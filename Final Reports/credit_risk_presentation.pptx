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product is live. Everything in this deck was produced by the deployed system, not a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an information problem, not a competence problem. The salesman is not wrong to trust relationships — he just has no counterweight.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six survived multicollinearity screening. Two overlapping ones were merged into a single composite.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on this slide. The whole product exists to surface these five accounts.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evidence in the deck. Say plainly that ground truth here is constructed, not observed — it protects credibility and the numbers are strong enough to survive the caveat.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this work the system only accepted one exact schema. A real distributor's export was rejected outright.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Tested directly: a nine-dealer book and a book with no defaults both correctly declined rather than producing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quality report is shown to the user every run — nothing is dropped silently.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skip this slide. Stating the limit is what makes the rest of the deck credible.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the ledger. The ask is small and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6928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0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993392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706624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19856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133088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846320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5559552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272784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93F">
              <a:alpha val="8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691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0C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CREDIT RISK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14884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Gut Feel to</a:t>
            </a:r>
            <a:endParaRPr lang="en-US" sz="50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Defensible Data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22960" y="4114800"/>
            <a:ext cx="8595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credit scorecard that reads any distributor's own ledger — and says plainly how far to trust its own answer.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5120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C4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300–900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960" y="5596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range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5120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C4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657600" y="5596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Pakistan-specific signals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51206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C4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92240" y="5596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90372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6126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decisions are made on memory and relationship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5029200" cy="1600200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68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"Yaar, acha banda hai — de do."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60120" y="2971800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salesman vouches. The credit goes out. Nobody checks the ledger.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214884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3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3–7%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138160" y="22037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annual revenue lost to bad debt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272491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3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PKR 1M+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138160" y="277977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single write-off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3300984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33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100+ hrs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38160" y="335584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 spent chasing payments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4343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information needed to decide better is already sitting in the invoice history. It is simply never read.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90372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6126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signals drawn from Pakistani distribution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2066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C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52728" y="20116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PDC bounce history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52728" y="23408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post-dated cheques come back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206654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2066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C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84848" y="201168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Eid / Ramzan adjustment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784848" y="234086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lateness is normal — it is discounted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33009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C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52728" y="32461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Salesman-vouch bias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52728" y="35753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salesman's own track record, leave-one-out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33009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33009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C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84848" y="324612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clustering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84848" y="35753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that travels with the market, not the dealer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45354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C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52728" y="44805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PKR-adjusted exposure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252728" y="48097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credit limit is really worth today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453542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0C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84848" y="4480560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continuity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84848" y="480974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order activity is growing or fading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5800" y="5806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score comes with the reasons behind it — a logistic scorecard, not a neural network.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90372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6126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C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 THAT MATTERS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accounts your team already trusts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4846320" cy="3017520"/>
          </a:xfrm>
          <a:prstGeom prst="roundRect">
            <a:avLst>
              <a:gd name="adj" fmla="val 1515"/>
            </a:avLst>
          </a:prstGeom>
          <a:solidFill>
            <a:srgbClr val="F7F4EE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Ph-Rawalpindi-0080 Traders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33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Salesman: Rizwan Malik · marked as a trusted account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B339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418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1005840" y="3858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300–900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3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42519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and inconsistent payment timing · elevated territory risk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21488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0C4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30936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dealers the sales team vouches for were flagged high risk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374904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an accusation. It is a prompt for a conversation the distributor was never in a position to start — backed by that dealer's own payment record.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90372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6126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Tested on portfolios it had never seen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470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portfolios, each with different column names, date formats, currency conventions, sizes and payment cultures — none resembling the data the model was built on.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14600"/>
          <a:ext cx="1051560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371600"/>
                <a:gridCol w="2377440"/>
                <a:gridCol w="1645920"/>
                <a:gridCol w="137160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Portfolio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Dealers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Risky dealers caught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False alarms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 quality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Al-Noor (FMCG, Karachi)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 of 51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 (slow-paying market)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of 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Hilal (9-dealer book)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of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6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4709160"/>
            <a:ext cx="10515600" cy="105156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8" name="Text 5"/>
          <p:cNvSpPr/>
          <p:nvPr/>
        </p:nvSpPr>
        <p:spPr>
          <a:xfrm>
            <a:off x="960120" y="489204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genuinely risky dealer was flagged for attention. Not one sound dealer was wrongly accused. Sorted by score, the risky accounts ranked below the sound ones without exception.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85800" y="59893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against known outcomes in constructed portfolios. No real-world defaults have been observed yet — see limitations.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90372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6126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fits itself to each distributor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1965960"/>
            <a:ext cx="105156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212848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" name="Text 5"/>
          <p:cNvSpPr/>
          <p:nvPr/>
        </p:nvSpPr>
        <p:spPr>
          <a:xfrm>
            <a:off x="1536192" y="20756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column names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36192" y="2404872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Code, Booker, Credit Limit (Rs), Account Opened — no reformatting asked of you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990088"/>
            <a:ext cx="105156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3236976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1" name="Text 9"/>
          <p:cNvSpPr/>
          <p:nvPr/>
        </p:nvSpPr>
        <p:spPr>
          <a:xfrm>
            <a:off x="1536192" y="30998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its own date window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36192" y="342900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ledger covers 2021 or 2027, it works out which history to learn from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85800" y="4014216"/>
            <a:ext cx="105156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960120" y="4261104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5" name="Text 13"/>
          <p:cNvSpPr/>
          <p:nvPr/>
        </p:nvSpPr>
        <p:spPr>
          <a:xfrm>
            <a:off x="1536192" y="412394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your payment norms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36192" y="4453128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60-day-terms market and a 15-day-terms market get different definitions of "late"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5038344"/>
            <a:ext cx="10515600" cy="868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" y="5285232"/>
            <a:ext cx="365760" cy="36576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9" name="Text 17"/>
          <p:cNvSpPr/>
          <p:nvPr/>
        </p:nvSpPr>
        <p:spPr>
          <a:xfrm>
            <a:off x="1536192" y="51480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on your book when needed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36192" y="5477256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general model is a poor fit, it fits one to your portfolio and cross-validates it first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90372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6126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C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 BY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tells you when not to trust it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 reports how far the numbers can be pushed. A confident-looking score on unsuitable data is worse than no score.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" y="2514600"/>
            <a:ext cx="3337560" cy="1920240"/>
          </a:xfrm>
          <a:prstGeom prst="roundRect">
            <a:avLst>
              <a:gd name="adj" fmla="val 2381"/>
            </a:avLst>
          </a:prstGeom>
          <a:solidFill>
            <a:srgbClr val="F7F4EE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788920"/>
            <a:ext cx="201168" cy="201168"/>
          </a:xfrm>
          <a:prstGeom prst="ellipse">
            <a:avLst/>
          </a:prstGeom>
          <a:solidFill>
            <a:srgbClr val="1E7A44"/>
          </a:solidFill>
          <a:ln/>
        </p:spPr>
      </p:sp>
      <p:sp>
        <p:nvSpPr>
          <p:cNvPr id="8" name="Text 6"/>
          <p:cNvSpPr/>
          <p:nvPr/>
        </p:nvSpPr>
        <p:spPr>
          <a:xfrm>
            <a:off x="1252728" y="2715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reliable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portfolio sits in familiar territory. Use the numbers and the ranking.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79392" y="2514600"/>
            <a:ext cx="3337560" cy="1920240"/>
          </a:xfrm>
          <a:prstGeom prst="roundRect">
            <a:avLst>
              <a:gd name="adj" fmla="val 2381"/>
            </a:avLst>
          </a:prstGeom>
          <a:solidFill>
            <a:srgbClr val="F7F4EE"/>
          </a:solidFill>
          <a:ln/>
        </p:spPr>
      </p:sp>
      <p:sp>
        <p:nvSpPr>
          <p:cNvPr id="11" name="Shape 9"/>
          <p:cNvSpPr/>
          <p:nvPr/>
        </p:nvSpPr>
        <p:spPr>
          <a:xfrm>
            <a:off x="4553712" y="2788920"/>
            <a:ext cx="201168" cy="201168"/>
          </a:xfrm>
          <a:prstGeom prst="ellipse">
            <a:avLst/>
          </a:prstGeom>
          <a:solidFill>
            <a:srgbClr val="A9731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715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97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indicative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53712" y="31546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Somewhat unfamiliar. Rankings hold; treat exact values loosely.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72984" y="2514600"/>
            <a:ext cx="3337560" cy="1920240"/>
          </a:xfrm>
          <a:prstGeom prst="roundRect">
            <a:avLst>
              <a:gd name="adj" fmla="val 2381"/>
            </a:avLst>
          </a:prstGeom>
          <a:solidFill>
            <a:srgbClr val="F7F4EE"/>
          </a:solidFill>
          <a:ln/>
        </p:spPr>
      </p:sp>
      <p:sp>
        <p:nvSpPr>
          <p:cNvPr id="15" name="Shape 13"/>
          <p:cNvSpPr/>
          <p:nvPr/>
        </p:nvSpPr>
        <p:spPr>
          <a:xfrm>
            <a:off x="8147304" y="2788920"/>
            <a:ext cx="201168" cy="201168"/>
          </a:xfrm>
          <a:prstGeom prst="ellipse">
            <a:avLst/>
          </a:prstGeom>
          <a:solidFill>
            <a:srgbClr val="B3392C"/>
          </a:solidFill>
          <a:ln/>
        </p:spPr>
      </p:sp>
      <p:sp>
        <p:nvSpPr>
          <p:cNvPr id="16" name="Text 14"/>
          <p:cNvSpPr/>
          <p:nvPr/>
        </p:nvSpPr>
        <p:spPr>
          <a:xfrm>
            <a:off x="8439912" y="2715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B339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ranking only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147304" y="315468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Substantially different. The order is meaningful; the numbers are not.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85800" y="48006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0C4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also refuses outright — when a book is too small to learn from, or shows no defaults at all, it declines to invent a model and says why.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90372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6126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SURVIVE REAL CONDITIONS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Messy exports are the normal case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2057400"/>
            <a:ext cx="5120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585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7A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788920" y="23317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rows retained from realistically messy exports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2057400"/>
            <a:ext cx="5120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2585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97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58%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8321040" y="23317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from a deliberately damaged file — every dropped row accounted for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657600"/>
            <a:ext cx="5120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8587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2788920" y="39319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guarding against regression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3657600"/>
            <a:ext cx="51206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385876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20+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321040" y="3931920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found and fixed before release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8580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Mixed date formats, currency as text, blank codes, duplicate rows, invoices that predate their own due date — all handled, all reported.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690372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" name="Text 1"/>
          <p:cNvSpPr/>
          <p:nvPr/>
        </p:nvSpPr>
        <p:spPr>
          <a:xfrm>
            <a:off x="905256" y="6126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A5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NOT OVERSTATE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0515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5120640" cy="3566160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240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7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today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dealers from safest to riskiest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Surfacing trusted accounts the record contradicts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messy real-world exports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every score in plain language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355080" y="2011680"/>
            <a:ext cx="5120640" cy="3566160"/>
          </a:xfrm>
          <a:prstGeom prst="roundRect">
            <a:avLst>
              <a:gd name="adj" fmla="val 128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240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C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prove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0" y="2697480"/>
            <a:ext cx="44805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dealer default has been observed yet — all validation to date uses constructed portfolios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score is directional; the RED / AMBER / GREEN tier is the reliable signal</a:t>
            </a:r>
            <a:endParaRPr lang="en-US" sz="13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rank within one portfolio — they do not compare across companies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85800" y="58064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on the right resolves the same way: with one real distributor's ledger.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66928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280160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1993392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2706624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419856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4133088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8" name="Shape 6"/>
          <p:cNvSpPr/>
          <p:nvPr/>
        </p:nvSpPr>
        <p:spPr>
          <a:xfrm>
            <a:off x="0" y="4846320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5559552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272784"/>
            <a:ext cx="12161520" cy="10973"/>
          </a:xfrm>
          <a:prstGeom prst="rect">
            <a:avLst/>
          </a:prstGeom>
          <a:solidFill>
            <a:srgbClr val="E0C477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93F">
              <a:alpha val="9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85800" y="918972"/>
            <a:ext cx="100584" cy="1005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3" name="Text 11"/>
          <p:cNvSpPr/>
          <p:nvPr/>
        </p:nvSpPr>
        <p:spPr>
          <a:xfrm>
            <a:off x="905256" y="84124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C4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ASKING FOR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128016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ledger, one conversation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777240" y="2468880"/>
            <a:ext cx="475488" cy="47548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468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63040" y="2423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one export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463040" y="28072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dealer list, salesman list and invoice history — in whatever format your system already produces.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3611880"/>
            <a:ext cx="475488" cy="47548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463040" y="3566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 it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63040" y="39502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day, you get a ranked risk table, per-dealer memos, and an honest read on how far to trust the numbers.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77240" y="4754880"/>
            <a:ext cx="475488" cy="475488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4754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1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463040" y="47091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tell us if it is right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63040" y="509320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with whoever chases payments and check the high-risk list against the accounts they actually struggle with.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77240" y="59436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0C4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That last step is the only thing standing between this and a decision you can defend.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Gut Feel to Defensible Data</dc:title>
  <dc:subject>PptxGenJS Presentation</dc:subject>
  <dc:creator>Distributor Credit Risk</dc:creator>
  <cp:lastModifiedBy>Distributor Credit Risk</cp:lastModifiedBy>
  <cp:revision>1</cp:revision>
  <dcterms:created xsi:type="dcterms:W3CDTF">2026-08-01T16:29:39Z</dcterms:created>
  <dcterms:modified xsi:type="dcterms:W3CDTF">2026-08-01T16:29:39Z</dcterms:modified>
</cp:coreProperties>
</file>